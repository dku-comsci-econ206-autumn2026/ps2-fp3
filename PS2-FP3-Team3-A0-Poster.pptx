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3"/>
  </p:notesMasterIdLst>
  <p:sldIdLst>
    <p:sldId id="256" r:id="rId2"/>
  </p:sldIdLst>
  <p:sldSz cx="42803763" cy="30275213"/>
  <p:notesSz cx="68580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0125"/>
    <p:restoredTop sz="94629"/>
  </p:normalViewPr>
  <p:slideViewPr>
    <p:cSldViewPr snapToGrid="0">
      <p:cViewPr varScale="1">
        <p:scale>
          <a:sx n="23" d="100"/>
          <a:sy n="23" d="100"/>
        </p:scale>
        <p:origin x="680" y="2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3" Type="http://schemas.openxmlformats.org/officeDocument/2006/relationships/notesMaster" Target="notesMasters/notesMaster1.xml"/><Relationship Id="rId7"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heme" Target="theme/theme1.xml"/><Relationship Id="rId5" Type="http://schemas.openxmlformats.org/officeDocument/2006/relationships/viewProps" Target="viewProps.xml"/><Relationship Id="rId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COMSCI/ECON 206 PS2 clean A0 poster template.</a:t>
            </a:r>
          </a:p>
          <a:p>
            <a:r>
              <a:t>Brand guide: https://dku-web-admissions.s3.cn-north-1.amazonaws.com.cn/dkumain/wp-content/uploads/mainsite/2022/05/brand-guide-compressed_2021.pdf, linked from https://www.dukekunshan.edu.cn/media/. Guide pp. 5, 6, 12, 14, and 15 establish logo clear space/proportions, unchanged logo artwork, application colors #003399 and #006633 plus white, and Calibri as the office system font when InterstatePlus cannot be used. Official logo asset: https://www.dukekunshan.edu.cn/wp-content/uploads/2021/08/large_dku-Logo.png.</a:t>
            </a:r>
          </a:p>
          <a:p>
            <a:r>
              <a:t>Calibri is specified in the editable PowerPoint. The exported PDF uses Carlito, a metric-compatible open-source substitute because Calibri is unavailable in the export environment. Re-export from PowerPoint with Calibri for institution-font-exact output.</a:t>
            </a:r>
          </a:p>
          <a:p>
            <a:r>
              <a:t>Clean and annotated versions share all element positions. Keep A0 landscape 1189 x 841 mm, 100% print scale. Text and figure/QR placeholders are editable; preserve the embedded logo unchanged and keep at least half its height as clear space. Instructor belongs below authors, not in the author list. Replace all placeholders with actual work; distinguish observed results, inferences, and planned tests. QR codes are optional but full public URLs and tested access are required. References must be full and traceable; acknowledgments must name actual contributions and AI assistance. Sep 28: symposium, peer evaluation and real-world case impacts. Sep 30: final update. The PS1-style paper, LaTeX, and learning pathway are unchanged.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2" name="top-brand-rule"/>
          <p:cNvSpPr>
            <a:spLocks noGrp="1"/>
          </p:cNvSpPr>
          <p:nvPr/>
        </p:nvSpPr>
        <p:spPr>
          <a:xfrm>
            <a:off x="0" y="0"/>
            <a:ext cx="42804000" cy="228600"/>
          </a:xfrm>
          <a:prstGeom prst="rect">
            <a:avLst/>
          </a:prstGeom>
          <a:solidFill>
            <a:srgbClr val="003399"/>
          </a:solidFill>
          <a:ln w="0">
            <a:noFill/>
            <a:prstDash val="solid"/>
          </a:ln>
        </p:spPr>
        <p:txBody>
          <a:bodyPr/>
          <a:lstStyle/>
          <a:p>
            <a:endParaRPr/>
          </a:p>
        </p:txBody>
      </p:sp>
      <p:sp>
        <p:nvSpPr>
          <p:cNvPr id="2" name="course-line"/>
          <p:cNvSpPr>
            <a:spLocks noGrp="1"/>
          </p:cNvSpPr>
          <p:nvPr/>
        </p:nvSpPr>
        <p:spPr>
          <a:xfrm>
            <a:off x="1333500" y="781050"/>
            <a:ext cx="28860750" cy="619125"/>
          </a:xfrm>
          <a:prstGeom prst="rect">
            <a:avLst/>
          </a:prstGeom>
          <a:noFill/>
          <a:ln w="0">
            <a:noFill/>
            <a:prstDash val="solid"/>
          </a:ln>
        </p:spPr>
        <p:txBody>
          <a:bodyPr>
            <a:noAutofit/>
          </a:bodyPr>
          <a:lstStyle/>
          <a:p>
            <a:pPr algn="l">
              <a:defRPr sz="2775" b="1">
                <a:solidFill>
                  <a:srgbClr val="003399"/>
                </a:solidFill>
                <a:latin typeface="Calibri"/>
                <a:ea typeface="Calibri"/>
                <a:cs typeface="Calibri"/>
              </a:defRPr>
            </a:pPr>
            <a:r>
              <a:rPr sz="2775" b="1">
                <a:solidFill>
                  <a:srgbClr val="003399"/>
                </a:solidFill>
                <a:latin typeface="Calibri"/>
                <a:ea typeface="Calibri"/>
                <a:cs typeface="Calibri"/>
              </a:rPr>
              <a:t>COMSCI / ECON 206   |   PS2 RESEARCH SYMPOSIUM   |   FALL 2026</a:t>
            </a:r>
          </a:p>
        </p:txBody>
      </p:sp>
      <p:sp>
        <p:nvSpPr>
          <p:cNvPr id="3" name="version"/>
          <p:cNvSpPr>
            <a:spLocks noGrp="1"/>
          </p:cNvSpPr>
          <p:nvPr/>
        </p:nvSpPr>
        <p:spPr>
          <a:xfrm>
            <a:off x="31623000" y="6153150"/>
            <a:ext cx="9810750" cy="371475"/>
          </a:xfrm>
          <a:prstGeom prst="rect">
            <a:avLst/>
          </a:prstGeom>
          <a:noFill/>
          <a:ln w="0">
            <a:noFill/>
            <a:prstDash val="solid"/>
          </a:ln>
        </p:spPr>
        <p:txBody>
          <a:bodyPr wrap="square">
            <a:noAutofit/>
          </a:bodyPr>
          <a:lstStyle/>
          <a:p>
            <a:endParaRPr/>
          </a:p>
        </p:txBody>
      </p:sp>
      <p:sp>
        <p:nvSpPr>
          <p:cNvPr id="4" name="project-title"/>
          <p:cNvSpPr>
            <a:spLocks noGrp="1"/>
          </p:cNvSpPr>
          <p:nvPr/>
        </p:nvSpPr>
        <p:spPr>
          <a:xfrm>
            <a:off x="1333500" y="1733550"/>
            <a:ext cx="29146500" cy="2619375"/>
          </a:xfrm>
          <a:prstGeom prst="rect">
            <a:avLst/>
          </a:prstGeom>
          <a:noFill/>
          <a:ln w="0">
            <a:noFill/>
            <a:prstDash val="solid"/>
          </a:ln>
        </p:spPr>
        <p:txBody>
          <a:bodyPr wrap="square">
            <a:noAutofit/>
          </a:bodyPr>
          <a:lstStyle/>
          <a:p>
            <a:r>
              <a:rPr sz="5500" b="1">
                <a:solidFill>
                  <a:srgbClr val="003399"/>
                </a:solidFill>
                <a:latin typeface="Calibri"/>
              </a:rPr>
              <a:t>Learning from Its Own Footprint</a:t>
            </a:r>
          </a:p>
          <a:p>
            <a:r>
              <a:rPr sz="5500" b="1">
                <a:solidFill>
                  <a:srgbClr val="003399"/>
                </a:solidFill>
                <a:latin typeface="Calibri"/>
              </a:rPr>
              <a:t>Strategic Disclosure, Capital Feedback, and the Design of AI Valuation Rules in IPO Allocation</a:t>
            </a:r>
          </a:p>
        </p:txBody>
      </p:sp>
      <p:sp>
        <p:nvSpPr>
          <p:cNvPr id="5" name="authors"/>
          <p:cNvSpPr>
            <a:spLocks noGrp="1"/>
          </p:cNvSpPr>
          <p:nvPr/>
        </p:nvSpPr>
        <p:spPr>
          <a:xfrm>
            <a:off x="1333500" y="4457700"/>
            <a:ext cx="28575000" cy="762000"/>
          </a:xfrm>
          <a:prstGeom prst="rect">
            <a:avLst/>
          </a:prstGeom>
          <a:noFill/>
          <a:ln w="0">
            <a:noFill/>
            <a:prstDash val="solid"/>
          </a:ln>
        </p:spPr>
        <p:txBody>
          <a:bodyPr wrap="square">
            <a:noAutofit/>
          </a:bodyPr>
          <a:lstStyle/>
          <a:p>
            <a:pPr algn="l">
              <a:defRPr sz="4050" b="1">
                <a:solidFill>
                  <a:srgbClr val="212A33"/>
                </a:solidFill>
                <a:latin typeface="Calibri"/>
                <a:ea typeface="Calibri"/>
                <a:cs typeface="Calibri"/>
              </a:defRPr>
            </a:pPr>
            <a:r>
              <a:rPr sz="3650" b="1">
                <a:solidFill>
                  <a:srgbClr val="212A33"/>
                </a:solidFill>
                <a:latin typeface="Calibri"/>
                <a:ea typeface="Calibri"/>
                <a:cs typeface="Calibri"/>
              </a:rPr>
              <a:t>Feiyu Li · Xuantong Fu  |  Team FP3</a:t>
            </a:r>
          </a:p>
        </p:txBody>
      </p:sp>
      <p:sp>
        <p:nvSpPr>
          <p:cNvPr id="6" name="course-instructor"/>
          <p:cNvSpPr>
            <a:spLocks noGrp="1"/>
          </p:cNvSpPr>
          <p:nvPr/>
        </p:nvSpPr>
        <p:spPr>
          <a:xfrm>
            <a:off x="1333500" y="5229225"/>
            <a:ext cx="28575000" cy="619125"/>
          </a:xfrm>
          <a:prstGeom prst="rect">
            <a:avLst/>
          </a:prstGeom>
          <a:noFill/>
          <a:ln w="0">
            <a:noFill/>
            <a:prstDash val="solid"/>
          </a:ln>
        </p:spPr>
        <p:txBody>
          <a:bodyPr wrap="square">
            <a:noAutofit/>
          </a:bodyPr>
          <a:lstStyle/>
          <a:p>
            <a:pPr algn="l">
              <a:defRPr sz="3000" b="0">
                <a:solidFill>
                  <a:srgbClr val="212A33"/>
                </a:solidFill>
                <a:latin typeface="Calibri"/>
                <a:ea typeface="Calibri"/>
                <a:cs typeface="Calibri"/>
              </a:defRPr>
            </a:pPr>
            <a:r>
              <a:rPr sz="2900" b="0">
                <a:solidFill>
                  <a:srgbClr val="212A33"/>
                </a:solidFill>
                <a:latin typeface="Calibri"/>
                <a:ea typeface="Calibri"/>
                <a:cs typeface="Calibri"/>
              </a:rPr>
              <a:t>Course instructor: Professor Luyao Zhang</a:t>
            </a:r>
          </a:p>
        </p:txBody>
      </p:sp>
      <p:pic>
        <p:nvPicPr>
          <p:cNvPr id="58" name="图片 57"/>
          <p:cNvPicPr>
            <a:picLocks noChangeAspect="1"/>
          </p:cNvPicPr>
          <p:nvPr/>
        </p:nvPicPr>
        <p:blipFill>
          <a:blip r:embed="rId3"/>
          <a:stretch>
            <a:fillRect/>
          </a:stretch>
        </p:blipFill>
        <p:spPr>
          <a:xfrm>
            <a:off x="32575500" y="2190750"/>
            <a:ext cx="8096250" cy="2595818"/>
          </a:xfrm>
          <a:prstGeom prst="rect">
            <a:avLst/>
          </a:prstGeom>
        </p:spPr>
      </p:pic>
      <p:sp>
        <p:nvSpPr>
          <p:cNvPr id="8" name="takeaway-band"/>
          <p:cNvSpPr>
            <a:spLocks noGrp="1"/>
          </p:cNvSpPr>
          <p:nvPr/>
        </p:nvSpPr>
        <p:spPr>
          <a:xfrm>
            <a:off x="0" y="6572250"/>
            <a:ext cx="42804000" cy="2143125"/>
          </a:xfrm>
          <a:prstGeom prst="rect">
            <a:avLst/>
          </a:prstGeom>
          <a:solidFill>
            <a:srgbClr val="003399"/>
          </a:solidFill>
          <a:ln w="0">
            <a:noFill/>
            <a:prstDash val="solid"/>
          </a:ln>
        </p:spPr>
        <p:txBody>
          <a:bodyPr/>
          <a:lstStyle/>
          <a:p>
            <a:endParaRPr/>
          </a:p>
        </p:txBody>
      </p:sp>
      <p:sp>
        <p:nvSpPr>
          <p:cNvPr id="9" name="takeaway-label"/>
          <p:cNvSpPr>
            <a:spLocks noGrp="1"/>
          </p:cNvSpPr>
          <p:nvPr/>
        </p:nvSpPr>
        <p:spPr>
          <a:xfrm>
            <a:off x="1333500" y="7239000"/>
            <a:ext cx="4667250" cy="619125"/>
          </a:xfrm>
          <a:prstGeom prst="rect">
            <a:avLst/>
          </a:prstGeom>
          <a:noFill/>
          <a:ln w="0">
            <a:noFill/>
            <a:prstDash val="solid"/>
          </a:ln>
        </p:spPr>
        <p:txBody>
          <a:bodyPr>
            <a:noAutofit/>
          </a:bodyPr>
          <a:lstStyle/>
          <a:p>
            <a:pPr algn="l">
              <a:defRPr sz="2700" b="1">
                <a:solidFill>
                  <a:srgbClr val="FFFFFF"/>
                </a:solidFill>
                <a:latin typeface="Calibri"/>
                <a:ea typeface="Calibri"/>
                <a:cs typeface="Calibri"/>
              </a:defRPr>
            </a:pPr>
            <a:r>
              <a:rPr sz="2700" b="1">
                <a:solidFill>
                  <a:srgbClr val="FFFFFF"/>
                </a:solidFill>
                <a:latin typeface="Calibri"/>
                <a:ea typeface="Calibri"/>
                <a:cs typeface="Calibri"/>
              </a:rPr>
              <a:t>KEY MESSAGE</a:t>
            </a:r>
          </a:p>
        </p:txBody>
      </p:sp>
      <p:sp>
        <p:nvSpPr>
          <p:cNvPr id="10" name="takeaway"/>
          <p:cNvSpPr>
            <a:spLocks noGrp="1"/>
          </p:cNvSpPr>
          <p:nvPr/>
        </p:nvSpPr>
        <p:spPr>
          <a:xfrm>
            <a:off x="6477000" y="7000875"/>
            <a:ext cx="34993500" cy="1524000"/>
          </a:xfrm>
          <a:prstGeom prst="rect">
            <a:avLst/>
          </a:prstGeom>
          <a:noFill/>
          <a:ln w="0">
            <a:noFill/>
            <a:prstDash val="solid"/>
          </a:ln>
        </p:spPr>
        <p:txBody>
          <a:bodyPr wrap="square">
            <a:noAutofit/>
          </a:bodyPr>
          <a:lstStyle/>
          <a:p>
            <a:r>
              <a:rPr sz="2700" b="0">
                <a:solidFill>
                  <a:srgbClr val="FFFFFF"/>
                </a:solidFill>
                <a:latin typeface="Calibri"/>
              </a:rPr>
              <a:t>In the model, outcomes can be high partly BECAUSE the rule priced issuers highly.</a:t>
            </a:r>
          </a:p>
          <a:p>
            <a:r>
              <a:rPr sz="2700" b="0">
                <a:solidFill>
                  <a:srgbClr val="FFFFFF"/>
                </a:solidFill>
                <a:latin typeface="Calibri"/>
              </a:rPr>
              <a:t>Naive history learns b ≈ 6.36 vs. true 1.02 (feedback bias 5.344) and raises mean manipulation 0.408 → 1.367 (+235%) under uniform-price allocation. Capital-purged history reduces bias, but does not remove it.</a:t>
            </a:r>
          </a:p>
        </p:txBody>
      </p:sp>
      <p:sp>
        <p:nvSpPr>
          <p:cNvPr id="11" name="question-model-title"/>
          <p:cNvSpPr>
            <a:spLocks noGrp="1"/>
          </p:cNvSpPr>
          <p:nvPr/>
        </p:nvSpPr>
        <p:spPr>
          <a:xfrm>
            <a:off x="1333500" y="9525000"/>
            <a:ext cx="11049000" cy="809625"/>
          </a:xfrm>
          <a:prstGeom prst="rect">
            <a:avLst/>
          </a:prstGeom>
          <a:noFill/>
          <a:ln w="0">
            <a:noFill/>
            <a:prstDash val="solid"/>
          </a:ln>
        </p:spPr>
        <p:txBody>
          <a:bodyPr>
            <a:noAutofit/>
          </a:bodyPr>
          <a:lstStyle/>
          <a:p>
            <a:pPr algn="l">
              <a:defRPr sz="4650" b="1">
                <a:solidFill>
                  <a:srgbClr val="003399"/>
                </a:solidFill>
                <a:latin typeface="Calibri"/>
                <a:ea typeface="Calibri"/>
                <a:cs typeface="Calibri"/>
              </a:defRPr>
            </a:pPr>
            <a:r>
              <a:rPr sz="4650" b="1">
                <a:solidFill>
                  <a:srgbClr val="003399"/>
                </a:solidFill>
                <a:latin typeface="Calibri"/>
                <a:ea typeface="Calibri"/>
                <a:cs typeface="Calibri"/>
              </a:rPr>
              <a:t>01   Question &amp; model</a:t>
            </a:r>
          </a:p>
        </p:txBody>
      </p:sp>
      <p:sp>
        <p:nvSpPr>
          <p:cNvPr id="12" name="question-model-title-rule"/>
          <p:cNvSpPr>
            <a:spLocks noGrp="1"/>
          </p:cNvSpPr>
          <p:nvPr/>
        </p:nvSpPr>
        <p:spPr>
          <a:xfrm>
            <a:off x="1333500" y="10506075"/>
            <a:ext cx="11049000" cy="47625"/>
          </a:xfrm>
          <a:prstGeom prst="rect">
            <a:avLst/>
          </a:prstGeom>
          <a:solidFill>
            <a:srgbClr val="006633"/>
          </a:solidFill>
          <a:ln w="0">
            <a:noFill/>
            <a:prstDash val="solid"/>
          </a:ln>
        </p:spPr>
        <p:txBody>
          <a:bodyPr/>
          <a:lstStyle/>
          <a:p>
            <a:endParaRPr/>
          </a:p>
        </p:txBody>
      </p:sp>
      <p:sp>
        <p:nvSpPr>
          <p:cNvPr id="13" name="research-question-heading"/>
          <p:cNvSpPr>
            <a:spLocks noGrp="1"/>
          </p:cNvSpPr>
          <p:nvPr/>
        </p:nvSpPr>
        <p:spPr>
          <a:xfrm>
            <a:off x="1333500" y="11144250"/>
            <a:ext cx="11049000" cy="666750"/>
          </a:xfrm>
          <a:prstGeom prst="rect">
            <a:avLst/>
          </a:prstGeom>
          <a:noFill/>
          <a:ln w="0">
            <a:noFill/>
            <a:prstDash val="solid"/>
          </a:ln>
        </p:spPr>
        <p:txBody>
          <a:bodyPr>
            <a:noAutofit/>
          </a:bodyPr>
          <a:lstStyle/>
          <a:p>
            <a:pPr algn="l">
              <a:defRPr sz="3375" b="1">
                <a:solidFill>
                  <a:srgbClr val="003399"/>
                </a:solidFill>
                <a:latin typeface="Calibri"/>
                <a:ea typeface="Calibri"/>
                <a:cs typeface="Calibri"/>
              </a:defRPr>
            </a:pPr>
            <a:r>
              <a:rPr sz="3375" b="1">
                <a:solidFill>
                  <a:srgbClr val="003399"/>
                </a:solidFill>
                <a:latin typeface="Calibri"/>
                <a:ea typeface="Calibri"/>
                <a:cs typeface="Calibri"/>
              </a:rPr>
              <a:t>Research question &amp; verified gap</a:t>
            </a:r>
          </a:p>
        </p:txBody>
      </p:sp>
      <p:sp>
        <p:nvSpPr>
          <p:cNvPr id="14" name="research-question"/>
          <p:cNvSpPr>
            <a:spLocks noGrp="1"/>
          </p:cNvSpPr>
          <p:nvPr/>
        </p:nvSpPr>
        <p:spPr>
          <a:xfrm>
            <a:off x="1333500" y="11906250"/>
            <a:ext cx="11049000" cy="2952750"/>
          </a:xfrm>
          <a:prstGeom prst="rect">
            <a:avLst/>
          </a:prstGeom>
          <a:noFill/>
          <a:ln w="0">
            <a:noFill/>
            <a:prstDash val="solid"/>
          </a:ln>
        </p:spPr>
        <p:txBody>
          <a:bodyPr wrap="square">
            <a:noAutofit/>
          </a:bodyPr>
          <a:lstStyle/>
          <a:p>
            <a:r>
              <a:rPr sz="2050" b="0">
                <a:solidFill>
                  <a:srgbClr val="212A33"/>
                </a:solidFill>
                <a:latin typeface="Calibri"/>
              </a:rPr>
              <a:t>How should an AI valuation rule be calibrated when the issuer manages its input and the rule's own pricing changes what it later learns from?</a:t>
            </a:r>
          </a:p>
          <a:p>
            <a:r>
              <a:rPr sz="2050" b="0">
                <a:solidFill>
                  <a:srgbClr val="212A33"/>
                </a:solidFill>
                <a:latin typeface="Calibri"/>
              </a:rPr>
              <a:t>Application setting: AI-assisted IPO/equity valuation with auction-based capital allocation.</a:t>
            </a:r>
          </a:p>
          <a:p>
            <a:r>
              <a:rPr sz="2050" b="0">
                <a:solidFill>
                  <a:srgbClr val="212A33"/>
                </a:solidFill>
                <a:latin typeface="Calibri"/>
              </a:rPr>
              <a:t>Gap: costly-disclosure models hold the rule fixed; IPO work treats signals as exogenous; performativity work does not jointly model allocation and later learning.</a:t>
            </a:r>
          </a:p>
        </p:txBody>
      </p:sp>
      <p:sp>
        <p:nvSpPr>
          <p:cNvPr id="15" name="model-heading"/>
          <p:cNvSpPr>
            <a:spLocks noGrp="1"/>
          </p:cNvSpPr>
          <p:nvPr/>
        </p:nvSpPr>
        <p:spPr>
          <a:xfrm>
            <a:off x="1333500" y="15144750"/>
            <a:ext cx="11049000" cy="666750"/>
          </a:xfrm>
          <a:prstGeom prst="rect">
            <a:avLst/>
          </a:prstGeom>
          <a:noFill/>
          <a:ln w="0">
            <a:noFill/>
            <a:prstDash val="solid"/>
          </a:ln>
        </p:spPr>
        <p:txBody>
          <a:bodyPr>
            <a:noAutofit/>
          </a:bodyPr>
          <a:lstStyle/>
          <a:p>
            <a:pPr algn="l">
              <a:defRPr sz="3375" b="1">
                <a:solidFill>
                  <a:srgbClr val="003399"/>
                </a:solidFill>
                <a:latin typeface="Calibri"/>
                <a:ea typeface="Calibri"/>
                <a:cs typeface="Calibri"/>
              </a:defRPr>
            </a:pPr>
            <a:r>
              <a:rPr sz="3375" b="1" dirty="0">
                <a:solidFill>
                  <a:srgbClr val="003399"/>
                </a:solidFill>
                <a:latin typeface="Calibri"/>
                <a:ea typeface="Calibri"/>
                <a:cs typeface="Calibri"/>
              </a:rPr>
              <a:t>Strategic model &amp; foundations</a:t>
            </a:r>
          </a:p>
        </p:txBody>
      </p:sp>
      <p:sp>
        <p:nvSpPr>
          <p:cNvPr id="16" name="model"/>
          <p:cNvSpPr>
            <a:spLocks noGrp="1"/>
          </p:cNvSpPr>
          <p:nvPr/>
        </p:nvSpPr>
        <p:spPr>
          <a:xfrm>
            <a:off x="1333500" y="15906750"/>
            <a:ext cx="11049000" cy="3333750"/>
          </a:xfrm>
          <a:prstGeom prst="rect">
            <a:avLst/>
          </a:prstGeom>
          <a:noFill/>
          <a:ln w="0">
            <a:noFill/>
            <a:prstDash val="solid"/>
          </a:ln>
        </p:spPr>
        <p:txBody>
          <a:bodyPr wrap="square">
            <a:noAutofit/>
          </a:bodyPr>
          <a:lstStyle/>
          <a:p>
            <a:r>
              <a:rPr sz="1950" b="0">
                <a:solidFill>
                  <a:srgbClr val="212A33"/>
                </a:solidFill>
                <a:latin typeface="Calibri"/>
              </a:rPr>
              <a:t>Issuer discloses d = θ + m at cost m²/2γ. The rule posts a public score; investors bid; allocation determines proceeds k; the outcome y = θ + ρk + ε then enters later calibration.</a:t>
            </a:r>
          </a:p>
          <a:p>
            <a:r>
              <a:rPr sz="1950" b="0">
                <a:solidFill>
                  <a:srgbClr val="212A33"/>
                </a:solidFill>
                <a:latin typeface="Calibri"/>
              </a:rPr>
              <a:t>Issuer types differ in fundamental quality θ, private value of capital v, and social marginal product ρ. Under quadratic cost and single crossing, the PBE benchmark gives manipulation increasing in perceived evaluator sensitivity.</a:t>
            </a:r>
          </a:p>
        </p:txBody>
      </p:sp>
      <p:sp>
        <p:nvSpPr>
          <p:cNvPr id="17" name="lenses-heading"/>
          <p:cNvSpPr>
            <a:spLocks noGrp="1"/>
          </p:cNvSpPr>
          <p:nvPr/>
        </p:nvSpPr>
        <p:spPr>
          <a:xfrm>
            <a:off x="1333500" y="19526250"/>
            <a:ext cx="11049000" cy="666750"/>
          </a:xfrm>
          <a:prstGeom prst="rect">
            <a:avLst/>
          </a:prstGeom>
          <a:noFill/>
          <a:ln w="0">
            <a:noFill/>
            <a:prstDash val="solid"/>
          </a:ln>
        </p:spPr>
        <p:txBody>
          <a:bodyPr>
            <a:noAutofit/>
          </a:bodyPr>
          <a:lstStyle/>
          <a:p>
            <a:pPr algn="l">
              <a:defRPr sz="3375" b="1">
                <a:solidFill>
                  <a:srgbClr val="003399"/>
                </a:solidFill>
                <a:latin typeface="Calibri"/>
                <a:ea typeface="Calibri"/>
                <a:cs typeface="Calibri"/>
              </a:defRPr>
            </a:pPr>
            <a:r>
              <a:rPr sz="3375" b="1">
                <a:solidFill>
                  <a:srgbClr val="003399"/>
                </a:solidFill>
                <a:latin typeface="Calibri"/>
                <a:ea typeface="Calibri"/>
                <a:cs typeface="Calibri"/>
              </a:rPr>
              <a:t>Three complementary lenses</a:t>
            </a:r>
          </a:p>
        </p:txBody>
      </p:sp>
      <p:sp>
        <p:nvSpPr>
          <p:cNvPr id="18" name="lenses"/>
          <p:cNvSpPr>
            <a:spLocks noGrp="1"/>
          </p:cNvSpPr>
          <p:nvPr/>
        </p:nvSpPr>
        <p:spPr>
          <a:xfrm>
            <a:off x="1333500" y="20288250"/>
            <a:ext cx="11049000" cy="2762250"/>
          </a:xfrm>
          <a:prstGeom prst="rect">
            <a:avLst/>
          </a:prstGeom>
          <a:noFill/>
          <a:ln w="0">
            <a:noFill/>
            <a:prstDash val="solid"/>
          </a:ln>
        </p:spPr>
        <p:txBody>
          <a:bodyPr wrap="square">
            <a:noAutofit/>
          </a:bodyPr>
          <a:lstStyle/>
          <a:p>
            <a:r>
              <a:rPr sz="2150" b="0">
                <a:solidFill>
                  <a:srgbClr val="212A33"/>
                </a:solidFill>
                <a:latin typeface="Calibri"/>
              </a:rPr>
              <a:t>Game theory: strategic disclosure increases with the evaluator's perceived sensitivity; equilibrium can anticipate average inflation, so the cost can appear as resources spent optimizing for the machine.</a:t>
            </a:r>
          </a:p>
          <a:p>
            <a:r>
              <a:rPr sz="2150" b="0">
                <a:solidFill>
                  <a:srgbClr val="212A33"/>
                </a:solidFill>
                <a:latin typeface="Calibri"/>
              </a:rPr>
              <a:t>Social choice: pricing accuracy, allocative efficiency, and retail access can conflict; later issuers inherit the calibration externality.</a:t>
            </a:r>
          </a:p>
          <a:p>
            <a:r>
              <a:rPr sz="2150" b="0">
                <a:solidFill>
                  <a:srgbClr val="212A33"/>
                </a:solidFill>
                <a:latin typeface="Calibri"/>
              </a:rPr>
              <a:t>Mechanism design: the allocation rule affects whether the evaluator's feedback footprint can be identified.</a:t>
            </a:r>
          </a:p>
        </p:txBody>
      </p:sp>
      <p:sp>
        <p:nvSpPr>
          <p:cNvPr id="19" name="auction-heading"/>
          <p:cNvSpPr>
            <a:spLocks noGrp="1"/>
          </p:cNvSpPr>
          <p:nvPr/>
        </p:nvSpPr>
        <p:spPr>
          <a:xfrm>
            <a:off x="1333500" y="23336250"/>
            <a:ext cx="11049000" cy="666750"/>
          </a:xfrm>
          <a:prstGeom prst="rect">
            <a:avLst/>
          </a:prstGeom>
          <a:noFill/>
          <a:ln w="0">
            <a:noFill/>
            <a:prstDash val="solid"/>
          </a:ln>
        </p:spPr>
        <p:txBody>
          <a:bodyPr>
            <a:noAutofit/>
          </a:bodyPr>
          <a:lstStyle/>
          <a:p>
            <a:pPr algn="l">
              <a:defRPr sz="3375" b="1">
                <a:solidFill>
                  <a:srgbClr val="003399"/>
                </a:solidFill>
                <a:latin typeface="Calibri"/>
                <a:ea typeface="Calibri"/>
                <a:cs typeface="Calibri"/>
              </a:defRPr>
            </a:pPr>
            <a:r>
              <a:rPr sz="3375" b="1">
                <a:solidFill>
                  <a:srgbClr val="003399"/>
                </a:solidFill>
                <a:latin typeface="Calibri"/>
                <a:ea typeface="Calibri"/>
                <a:cs typeface="Calibri"/>
              </a:rPr>
              <a:t>Auction or allocation comparison</a:t>
            </a:r>
          </a:p>
        </p:txBody>
      </p:sp>
      <p:sp>
        <p:nvSpPr>
          <p:cNvPr id="20" name="auction"/>
          <p:cNvSpPr>
            <a:spLocks noGrp="1"/>
          </p:cNvSpPr>
          <p:nvPr/>
        </p:nvSpPr>
        <p:spPr>
          <a:xfrm>
            <a:off x="1333500" y="24098250"/>
            <a:ext cx="11049000" cy="2762250"/>
          </a:xfrm>
          <a:prstGeom prst="rect">
            <a:avLst/>
          </a:prstGeom>
          <a:noFill/>
          <a:ln w="0">
            <a:noFill/>
            <a:prstDash val="solid"/>
          </a:ln>
        </p:spPr>
        <p:txBody>
          <a:bodyPr wrap="square">
            <a:noAutofit/>
          </a:bodyPr>
          <a:lstStyle/>
          <a:p>
            <a:r>
              <a:rPr sz="2050" b="0">
                <a:solidFill>
                  <a:srgbClr val="212A33"/>
                </a:solidFill>
                <a:latin typeface="Calibri"/>
              </a:rPr>
              <a:t>100 IPO shares; 15 institutional and 35 retail investors. Investors observe the public AI signal and private signals.</a:t>
            </a:r>
          </a:p>
          <a:p>
            <a:r>
              <a:rPr sz="2050" b="0">
                <a:solidFill>
                  <a:srgbClr val="212A33"/>
                </a:solidFill>
                <a:latin typeface="Calibri"/>
              </a:rPr>
              <a:t>M1 uniform-price: bids sorted until shares are exhausted; winners pay the lowest accepted price.</a:t>
            </a:r>
          </a:p>
          <a:p>
            <a:r>
              <a:rPr sz="2050" b="0">
                <a:solidFill>
                  <a:srgbClr val="212A33"/>
                </a:solidFill>
                <a:latin typeface="Calibri"/>
              </a:rPr>
              <a:t>M2 bookbuilding: underwriter discretion; the model assigns 85% to institutions and applies an 8% pricing discount.</a:t>
            </a:r>
          </a:p>
          <a:p>
            <a:r>
              <a:rPr sz="2050" b="0">
                <a:solidFill>
                  <a:srgbClr val="212A33"/>
                </a:solidFill>
                <a:latin typeface="Calibri"/>
              </a:rPr>
              <a:t>Boundary: memory is cross-firm; the model abstracts from seasoned repeat issuance.</a:t>
            </a:r>
          </a:p>
        </p:txBody>
      </p:sp>
      <p:sp>
        <p:nvSpPr>
          <p:cNvPr id="21" name="design-evidence-title"/>
          <p:cNvSpPr>
            <a:spLocks noGrp="1"/>
          </p:cNvSpPr>
          <p:nvPr/>
        </p:nvSpPr>
        <p:spPr>
          <a:xfrm>
            <a:off x="13335000" y="9525000"/>
            <a:ext cx="16134000" cy="809625"/>
          </a:xfrm>
          <a:prstGeom prst="rect">
            <a:avLst/>
          </a:prstGeom>
          <a:noFill/>
          <a:ln w="0">
            <a:noFill/>
            <a:prstDash val="solid"/>
          </a:ln>
        </p:spPr>
        <p:txBody>
          <a:bodyPr>
            <a:noAutofit/>
          </a:bodyPr>
          <a:lstStyle/>
          <a:p>
            <a:pPr algn="l">
              <a:defRPr sz="4650" b="1">
                <a:solidFill>
                  <a:srgbClr val="003399"/>
                </a:solidFill>
                <a:latin typeface="Calibri"/>
                <a:ea typeface="Calibri"/>
                <a:cs typeface="Calibri"/>
              </a:defRPr>
            </a:pPr>
            <a:r>
              <a:rPr sz="4650" b="1">
                <a:solidFill>
                  <a:srgbClr val="003399"/>
                </a:solidFill>
                <a:latin typeface="Calibri"/>
                <a:ea typeface="Calibri"/>
                <a:cs typeface="Calibri"/>
              </a:rPr>
              <a:t>02   Design &amp; evidence</a:t>
            </a:r>
          </a:p>
        </p:txBody>
      </p:sp>
      <p:sp>
        <p:nvSpPr>
          <p:cNvPr id="22" name="design-evidence-title-rule"/>
          <p:cNvSpPr>
            <a:spLocks noGrp="1"/>
          </p:cNvSpPr>
          <p:nvPr/>
        </p:nvSpPr>
        <p:spPr>
          <a:xfrm>
            <a:off x="13335000" y="10506075"/>
            <a:ext cx="16134000" cy="47625"/>
          </a:xfrm>
          <a:prstGeom prst="rect">
            <a:avLst/>
          </a:prstGeom>
          <a:solidFill>
            <a:srgbClr val="006633"/>
          </a:solidFill>
          <a:ln w="0">
            <a:noFill/>
            <a:prstDash val="solid"/>
          </a:ln>
        </p:spPr>
        <p:txBody>
          <a:bodyPr/>
          <a:lstStyle/>
          <a:p>
            <a:endParaRPr/>
          </a:p>
        </p:txBody>
      </p:sp>
      <p:sp>
        <p:nvSpPr>
          <p:cNvPr id="23" name="research-design-area"/>
          <p:cNvSpPr>
            <a:spLocks noGrp="1"/>
          </p:cNvSpPr>
          <p:nvPr/>
        </p:nvSpPr>
        <p:spPr>
          <a:xfrm>
            <a:off x="13335000" y="11144250"/>
            <a:ext cx="16134000" cy="4667250"/>
          </a:xfrm>
          <a:prstGeom prst="rect">
            <a:avLst/>
          </a:prstGeom>
          <a:solidFill>
            <a:srgbClr val="F4F6F7"/>
          </a:solidFill>
          <a:ln w="19050">
            <a:solidFill>
              <a:srgbClr val="CFD5D9"/>
            </a:solidFill>
            <a:prstDash val="solid"/>
          </a:ln>
        </p:spPr>
        <p:txBody>
          <a:bodyPr/>
          <a:lstStyle/>
          <a:p>
            <a:endParaRPr/>
          </a:p>
        </p:txBody>
      </p:sp>
      <p:sp>
        <p:nvSpPr>
          <p:cNvPr id="26" name="design-caption"/>
          <p:cNvSpPr>
            <a:spLocks noGrp="1"/>
          </p:cNvSpPr>
          <p:nvPr/>
        </p:nvSpPr>
        <p:spPr>
          <a:xfrm>
            <a:off x="13335000" y="16097250"/>
            <a:ext cx="16134000" cy="1190625"/>
          </a:xfrm>
          <a:prstGeom prst="rect">
            <a:avLst/>
          </a:prstGeom>
          <a:noFill/>
          <a:ln w="0">
            <a:noFill/>
            <a:prstDash val="solid"/>
          </a:ln>
        </p:spPr>
        <p:txBody>
          <a:bodyPr wrap="square">
            <a:noAutofit/>
          </a:bodyPr>
          <a:lstStyle/>
          <a:p>
            <a:pPr algn="l">
              <a:defRPr sz="2850" b="0">
                <a:solidFill>
                  <a:srgbClr val="56616B"/>
                </a:solidFill>
                <a:latin typeface="Calibri"/>
                <a:ea typeface="Calibri"/>
                <a:cs typeface="Calibri"/>
              </a:defRPr>
            </a:pPr>
            <a:r>
              <a:rPr sz="2850" b="0">
                <a:solidFill>
                  <a:srgbClr val="56616B"/>
                </a:solidFill>
                <a:latin typeface="Calibri"/>
                <a:ea typeface="Calibri"/>
                <a:cs typeface="Calibri"/>
              </a:rPr>
              <a:t>Fig 1. What the rule learns, cohort by cohort, against the infeasible truth.</a:t>
            </a:r>
          </a:p>
        </p:txBody>
      </p:sp>
      <p:sp>
        <p:nvSpPr>
          <p:cNvPr id="27" name="main-result-area"/>
          <p:cNvSpPr>
            <a:spLocks noGrp="1"/>
          </p:cNvSpPr>
          <p:nvPr/>
        </p:nvSpPr>
        <p:spPr>
          <a:xfrm>
            <a:off x="13335000" y="17621250"/>
            <a:ext cx="16134000" cy="6286500"/>
          </a:xfrm>
          <a:prstGeom prst="rect">
            <a:avLst/>
          </a:prstGeom>
          <a:solidFill>
            <a:srgbClr val="F4F6F7"/>
          </a:solidFill>
          <a:ln w="19050">
            <a:solidFill>
              <a:srgbClr val="CFD5D9"/>
            </a:solidFill>
            <a:prstDash val="solid"/>
          </a:ln>
        </p:spPr>
        <p:txBody>
          <a:bodyPr/>
          <a:lstStyle/>
          <a:p>
            <a:endParaRPr/>
          </a:p>
        </p:txBody>
      </p:sp>
      <p:sp>
        <p:nvSpPr>
          <p:cNvPr id="30" name="result-caption"/>
          <p:cNvSpPr>
            <a:spLocks noGrp="1"/>
          </p:cNvSpPr>
          <p:nvPr/>
        </p:nvSpPr>
        <p:spPr>
          <a:xfrm>
            <a:off x="13335000" y="24241125"/>
            <a:ext cx="16134000" cy="2714625"/>
          </a:xfrm>
          <a:prstGeom prst="rect">
            <a:avLst/>
          </a:prstGeom>
          <a:noFill/>
          <a:ln w="0">
            <a:noFill/>
            <a:prstDash val="solid"/>
          </a:ln>
        </p:spPr>
        <p:txBody>
          <a:bodyPr wrap="square">
            <a:noAutofit/>
          </a:bodyPr>
          <a:lstStyle/>
          <a:p>
            <a:r>
              <a:rPr sz="1950" b="0">
                <a:solidFill>
                  <a:srgbClr val="212A33"/>
                </a:solidFill>
                <a:latin typeface="Calibri"/>
              </a:rPr>
              <a:t>Fig 2. 200 issuers, seeds 42–46, two-cohort burn-in. Actual simulation output.</a:t>
            </a:r>
          </a:p>
          <a:p>
            <a:r>
              <a:rPr sz="1950" b="0">
                <a:solidFill>
                  <a:srgbClr val="212A33"/>
                </a:solidFill>
                <a:latin typeface="Calibri"/>
              </a:rPr>
              <a:t>Naive memory raises mean manipulation from 0.408 to 1.367 (uniform-price) and 0.921 (bookbuilding). Under uniform-price, manipulation cost rises 14.305 → 243.230 (17×); under bookbuilding, 14.305 → 91.928 (6.4×). Capital purging reduces feedback bias under uniform-price (5.344 → 4.894; F = 0.136) but not under bookbuilding (2.012 → 2.527; F = 0.900). With no purge, price RMSE rises 0.551 → 30.328 under uniform-price.</a:t>
            </a:r>
          </a:p>
          <a:p>
            <a:r>
              <a:rPr sz="1950" b="0">
                <a:solidFill>
                  <a:srgbClr val="212A33"/>
                </a:solidFill>
                <a:latin typeface="Calibri"/>
              </a:rPr>
              <a:t>Unresolved: a residual remains because ρ is heterogeneous and the allocation-shock first stage is weak.</a:t>
            </a:r>
          </a:p>
        </p:txBody>
      </p:sp>
      <p:sp>
        <p:nvSpPr>
          <p:cNvPr id="31" name="impact-title"/>
          <p:cNvSpPr>
            <a:spLocks noGrp="1"/>
          </p:cNvSpPr>
          <p:nvPr/>
        </p:nvSpPr>
        <p:spPr>
          <a:xfrm>
            <a:off x="30421500" y="9525000"/>
            <a:ext cx="11049000" cy="809625"/>
          </a:xfrm>
          <a:prstGeom prst="rect">
            <a:avLst/>
          </a:prstGeom>
          <a:noFill/>
          <a:ln w="0">
            <a:noFill/>
            <a:prstDash val="solid"/>
          </a:ln>
        </p:spPr>
        <p:txBody>
          <a:bodyPr>
            <a:noAutofit/>
          </a:bodyPr>
          <a:lstStyle/>
          <a:p>
            <a:pPr algn="l">
              <a:defRPr sz="4650" b="1">
                <a:solidFill>
                  <a:srgbClr val="003399"/>
                </a:solidFill>
                <a:latin typeface="Calibri"/>
                <a:ea typeface="Calibri"/>
                <a:cs typeface="Calibri"/>
              </a:defRPr>
            </a:pPr>
            <a:r>
              <a:rPr sz="4650" b="1">
                <a:solidFill>
                  <a:srgbClr val="003399"/>
                </a:solidFill>
                <a:latin typeface="Calibri"/>
                <a:ea typeface="Calibri"/>
                <a:cs typeface="Calibri"/>
              </a:rPr>
              <a:t>03   Impact &amp; dialogue</a:t>
            </a:r>
          </a:p>
        </p:txBody>
      </p:sp>
      <p:sp>
        <p:nvSpPr>
          <p:cNvPr id="32" name="impact-title-rule"/>
          <p:cNvSpPr>
            <a:spLocks noGrp="1"/>
          </p:cNvSpPr>
          <p:nvPr/>
        </p:nvSpPr>
        <p:spPr>
          <a:xfrm>
            <a:off x="30421500" y="10506075"/>
            <a:ext cx="11049000" cy="47625"/>
          </a:xfrm>
          <a:prstGeom prst="rect">
            <a:avLst/>
          </a:prstGeom>
          <a:solidFill>
            <a:srgbClr val="006633"/>
          </a:solidFill>
          <a:ln w="0">
            <a:noFill/>
            <a:prstDash val="solid"/>
          </a:ln>
        </p:spPr>
        <p:txBody>
          <a:bodyPr/>
          <a:lstStyle/>
          <a:p>
            <a:endParaRPr/>
          </a:p>
        </p:txBody>
      </p:sp>
      <p:sp>
        <p:nvSpPr>
          <p:cNvPr id="33" name="real-world-heading"/>
          <p:cNvSpPr>
            <a:spLocks noGrp="1"/>
          </p:cNvSpPr>
          <p:nvPr/>
        </p:nvSpPr>
        <p:spPr>
          <a:xfrm>
            <a:off x="30421500" y="11144250"/>
            <a:ext cx="11049000" cy="666750"/>
          </a:xfrm>
          <a:prstGeom prst="rect">
            <a:avLst/>
          </a:prstGeom>
          <a:noFill/>
          <a:ln w="0">
            <a:noFill/>
            <a:prstDash val="solid"/>
          </a:ln>
        </p:spPr>
        <p:txBody>
          <a:bodyPr>
            <a:noAutofit/>
          </a:bodyPr>
          <a:lstStyle/>
          <a:p>
            <a:r>
              <a:rPr sz="2700" b="1">
                <a:solidFill>
                  <a:srgbClr val="003399"/>
                </a:solidFill>
                <a:latin typeface="Calibri"/>
              </a:rPr>
              <a:t>Practical design question</a:t>
            </a:r>
          </a:p>
        </p:txBody>
      </p:sp>
      <p:sp>
        <p:nvSpPr>
          <p:cNvPr id="34" name="real-world"/>
          <p:cNvSpPr>
            <a:spLocks noGrp="1"/>
          </p:cNvSpPr>
          <p:nvPr/>
        </p:nvSpPr>
        <p:spPr>
          <a:xfrm>
            <a:off x="30421500" y="11906250"/>
            <a:ext cx="11049000" cy="3571875"/>
          </a:xfrm>
          <a:prstGeom prst="rect">
            <a:avLst/>
          </a:prstGeom>
          <a:noFill/>
          <a:ln w="0">
            <a:noFill/>
            <a:prstDash val="solid"/>
          </a:ln>
        </p:spPr>
        <p:txBody>
          <a:bodyPr wrap="square">
            <a:noAutofit/>
          </a:bodyPr>
          <a:lstStyle/>
          <a:p>
            <a:r>
              <a:rPr sz="2050" b="0">
                <a:solidFill>
                  <a:srgbClr val="212A33"/>
                </a:solidFill>
                <a:latin typeface="Calibri"/>
              </a:rPr>
              <a:t>Question: when can a valuation rule safely learn from outcomes it helped create?</a:t>
            </a:r>
          </a:p>
          <a:p>
            <a:r>
              <a:rPr sz="2050" b="0">
                <a:solidFill>
                  <a:srgbClr val="212A33"/>
                </a:solidFill>
                <a:latin typeface="Calibri"/>
              </a:rPr>
              <a:t>Potential benefit: an auditable criterion for separating genuine performance from evaluator-induced outcomes.</a:t>
            </a:r>
          </a:p>
          <a:p>
            <a:r>
              <a:rPr sz="2050" b="0">
                <a:solidFill>
                  <a:srgbClr val="212A33"/>
                </a:solidFill>
                <a:latin typeface="Calibri"/>
              </a:rPr>
              <a:t>Risk: a naive self-calibrated model can look strong on backtests because its errors track its own past allocations.</a:t>
            </a:r>
          </a:p>
          <a:p>
            <a:r>
              <a:rPr sz="2050" b="0">
                <a:solidFill>
                  <a:srgbClr val="212A33"/>
                </a:solidFill>
                <a:latin typeface="Calibri"/>
              </a:rPr>
              <a:t>Proposed correction: publish calibration sensitivity, the memory-update log, and identification diagnostics for outside audit.</a:t>
            </a:r>
          </a:p>
        </p:txBody>
      </p:sp>
      <p:sp>
        <p:nvSpPr>
          <p:cNvPr id="35" name="interdisciplinary-heading"/>
          <p:cNvSpPr>
            <a:spLocks noGrp="1"/>
          </p:cNvSpPr>
          <p:nvPr/>
        </p:nvSpPr>
        <p:spPr>
          <a:xfrm>
            <a:off x="30421500" y="15811500"/>
            <a:ext cx="11049000" cy="666750"/>
          </a:xfrm>
          <a:prstGeom prst="rect">
            <a:avLst/>
          </a:prstGeom>
          <a:noFill/>
          <a:ln w="0">
            <a:noFill/>
            <a:prstDash val="solid"/>
          </a:ln>
        </p:spPr>
        <p:txBody>
          <a:bodyPr>
            <a:noAutofit/>
          </a:bodyPr>
          <a:lstStyle/>
          <a:p>
            <a:pPr algn="l">
              <a:defRPr sz="3375" b="1">
                <a:solidFill>
                  <a:srgbClr val="003399"/>
                </a:solidFill>
                <a:latin typeface="Calibri"/>
                <a:ea typeface="Calibri"/>
                <a:cs typeface="Calibri"/>
              </a:defRPr>
            </a:pPr>
            <a:r>
              <a:rPr sz="3375" b="1">
                <a:solidFill>
                  <a:srgbClr val="003399"/>
                </a:solidFill>
                <a:latin typeface="Calibri"/>
                <a:ea typeface="Calibri"/>
                <a:cs typeface="Calibri"/>
              </a:rPr>
              <a:t>Interdisciplinary evidence</a:t>
            </a:r>
          </a:p>
        </p:txBody>
      </p:sp>
      <p:sp>
        <p:nvSpPr>
          <p:cNvPr id="36" name="interdisciplinary"/>
          <p:cNvSpPr>
            <a:spLocks noGrp="1"/>
          </p:cNvSpPr>
          <p:nvPr/>
        </p:nvSpPr>
        <p:spPr>
          <a:xfrm>
            <a:off x="30421500" y="16573500"/>
            <a:ext cx="11049000" cy="5238750"/>
          </a:xfrm>
          <a:prstGeom prst="rect">
            <a:avLst/>
          </a:prstGeom>
          <a:noFill/>
          <a:ln w="0">
            <a:noFill/>
            <a:prstDash val="solid"/>
          </a:ln>
        </p:spPr>
        <p:txBody>
          <a:bodyPr wrap="square">
            <a:noAutofit/>
          </a:bodyPr>
          <a:lstStyle/>
          <a:p>
            <a:r>
              <a:rPr sz="2100" b="0">
                <a:solidFill>
                  <a:srgbClr val="212A33"/>
                </a:solidFill>
                <a:latin typeface="Calibri"/>
              </a:rPr>
              <a:t>Behavioral — Hugging Face</a:t>
            </a:r>
          </a:p>
          <a:p>
            <a:r>
              <a:rPr sz="2100" b="0">
                <a:solidFill>
                  <a:srgbClr val="212A33"/>
                </a:solidFill>
                <a:latin typeface="Calibri"/>
              </a:rPr>
              <a:t>Exploratory test: players bid against a public AI valuation while the issuer can move the disclosed input. The planned analysis recovers each player's implied weight on the public signal.</a:t>
            </a:r>
          </a:p>
          <a:p>
            <a:r>
              <a:rPr sz="2100" b="0">
                <a:solidFill>
                  <a:srgbClr val="212A33"/>
                </a:solidFill>
                <a:latin typeface="Calibri"/>
              </a:rPr>
              <a:t>Algorithm appreciation and anchoring make competing predictions about how that weight changes when calibration status is disclosed. No completed sample or treatment estimate is claimed here; this is an exploratory direction check.</a:t>
            </a:r>
          </a:p>
          <a:p>
            <a:r>
              <a:rPr sz="2100" b="0">
                <a:solidFill>
                  <a:srgbClr val="212A33"/>
                </a:solidFill>
                <a:latin typeface="Calibri"/>
              </a:rPr>
              <a:t>Computational — GitHub</a:t>
            </a:r>
          </a:p>
          <a:p>
            <a:r>
              <a:rPr sz="2100" b="0">
                <a:solidFill>
                  <a:srgbClr val="212A33"/>
                </a:solidFill>
                <a:latin typeface="Calibri"/>
              </a:rPr>
              <a:t>200 synthetic issuers, 5 seeds, 3 evaluator designs × 2 allocation mechanisms. One command regenerates the reported numbers plus a run record.</a:t>
            </a:r>
          </a:p>
        </p:txBody>
      </p:sp>
      <p:sp>
        <p:nvSpPr>
          <p:cNvPr id="37" name="limits-heading"/>
          <p:cNvSpPr>
            <a:spLocks noGrp="1"/>
          </p:cNvSpPr>
          <p:nvPr/>
        </p:nvSpPr>
        <p:spPr>
          <a:xfrm>
            <a:off x="30421500" y="22193250"/>
            <a:ext cx="11049000" cy="666750"/>
          </a:xfrm>
          <a:prstGeom prst="rect">
            <a:avLst/>
          </a:prstGeom>
          <a:noFill/>
          <a:ln w="0">
            <a:noFill/>
            <a:prstDash val="solid"/>
          </a:ln>
        </p:spPr>
        <p:txBody>
          <a:bodyPr>
            <a:noAutofit/>
          </a:bodyPr>
          <a:lstStyle/>
          <a:p>
            <a:pPr algn="l">
              <a:defRPr sz="3375" b="1">
                <a:solidFill>
                  <a:srgbClr val="003399"/>
                </a:solidFill>
                <a:latin typeface="Calibri"/>
                <a:ea typeface="Calibri"/>
                <a:cs typeface="Calibri"/>
              </a:defRPr>
            </a:pPr>
            <a:r>
              <a:rPr sz="3375" b="1">
                <a:solidFill>
                  <a:srgbClr val="003399"/>
                </a:solidFill>
                <a:latin typeface="Calibri"/>
                <a:ea typeface="Calibri"/>
                <a:cs typeface="Calibri"/>
              </a:rPr>
              <a:t>Limitations &amp; next test</a:t>
            </a:r>
          </a:p>
        </p:txBody>
      </p:sp>
      <p:sp>
        <p:nvSpPr>
          <p:cNvPr id="38" name="limits"/>
          <p:cNvSpPr>
            <a:spLocks noGrp="1"/>
          </p:cNvSpPr>
          <p:nvPr/>
        </p:nvSpPr>
        <p:spPr>
          <a:xfrm>
            <a:off x="30421500" y="22955250"/>
            <a:ext cx="11049000" cy="2619375"/>
          </a:xfrm>
          <a:prstGeom prst="rect">
            <a:avLst/>
          </a:prstGeom>
          <a:noFill/>
          <a:ln w="0">
            <a:noFill/>
            <a:prstDash val="solid"/>
          </a:ln>
        </p:spPr>
        <p:txBody>
          <a:bodyPr wrap="square">
            <a:noAutofit/>
          </a:bodyPr>
          <a:lstStyle/>
          <a:p>
            <a:pPr algn="l">
              <a:defRPr sz="3225" b="0">
                <a:solidFill>
                  <a:srgbClr val="212A33"/>
                </a:solidFill>
                <a:latin typeface="Calibri"/>
                <a:ea typeface="Calibri"/>
                <a:cs typeface="Calibri"/>
              </a:defRPr>
            </a:pPr>
            <a:r>
              <a:rPr sz="1875" b="0" dirty="0">
                <a:solidFill>
                  <a:srgbClr val="212A33"/>
                </a:solidFill>
                <a:latin typeface="Calibri"/>
                <a:ea typeface="Calibri"/>
                <a:cs typeface="Calibri"/>
              </a:rPr>
              <a:t>Capital productivity is exogenous. The AI is a rule, not a player. One AI, no competition. All data synthetic.</a:t>
            </a:r>
          </a:p>
          <a:p>
            <a:pPr algn="l">
              <a:defRPr sz="3225" b="0">
                <a:solidFill>
                  <a:srgbClr val="212A33"/>
                </a:solidFill>
                <a:latin typeface="Calibri"/>
                <a:ea typeface="Calibri"/>
                <a:cs typeface="Calibri"/>
              </a:defRPr>
            </a:pPr>
            <a:r>
              <a:rPr sz="1875" b="0" dirty="0">
                <a:solidFill>
                  <a:srgbClr val="212A33"/>
                </a:solidFill>
                <a:latin typeface="Calibri"/>
                <a:ea typeface="Calibri"/>
                <a:cs typeface="Calibri"/>
              </a:rPr>
              <a:t>Load-bearing: exogeneity of the allocation shock. True by construction here; in real data rationing may track unobserved demand. Our identification is a PROPOSAL.</a:t>
            </a:r>
          </a:p>
          <a:p>
            <a:pPr algn="l">
              <a:defRPr sz="3225" b="0">
                <a:solidFill>
                  <a:srgbClr val="212A33"/>
                </a:solidFill>
                <a:latin typeface="Calibri"/>
                <a:ea typeface="Calibri"/>
                <a:cs typeface="Calibri"/>
              </a:defRPr>
            </a:pPr>
            <a:r>
              <a:rPr lang="en-US" sz="1875" b="0" dirty="0">
                <a:solidFill>
                  <a:srgbClr val="212A33"/>
                </a:solidFill>
                <a:latin typeface="Calibri"/>
                <a:ea typeface="Calibri"/>
                <a:cs typeface="Calibri"/>
              </a:rPr>
              <a:t>Next test: robustness to allocation-shock assumptions, then pre-registered replication on real issuance data.</a:t>
            </a:r>
          </a:p>
          <a:p>
            <a:pPr algn="l">
              <a:defRPr sz="3225" b="0">
                <a:solidFill>
                  <a:srgbClr val="212A33"/>
                </a:solidFill>
                <a:latin typeface="Calibri"/>
                <a:ea typeface="Calibri"/>
                <a:cs typeface="Calibri"/>
              </a:defRPr>
            </a:pPr>
            <a:br>
              <a:rPr lang="en-US" sz="1875" b="0" dirty="0">
                <a:solidFill>
                  <a:srgbClr val="212A33"/>
                </a:solidFill>
                <a:latin typeface="Calibri"/>
                <a:ea typeface="Calibri"/>
                <a:cs typeface="Calibri"/>
              </a:rPr>
            </a:br>
            <a:endParaRPr sz="1875" b="0" dirty="0">
              <a:solidFill>
                <a:srgbClr val="212A33"/>
              </a:solidFill>
              <a:latin typeface="Calibri"/>
              <a:ea typeface="Calibri"/>
              <a:cs typeface="Calibri"/>
            </a:endParaRPr>
          </a:p>
        </p:txBody>
      </p:sp>
      <p:sp>
        <p:nvSpPr>
          <p:cNvPr id="39" name="dates"/>
          <p:cNvSpPr>
            <a:spLocks noGrp="1"/>
          </p:cNvSpPr>
          <p:nvPr/>
        </p:nvSpPr>
        <p:spPr>
          <a:xfrm>
            <a:off x="30421500" y="25812750"/>
            <a:ext cx="11049000" cy="1143000"/>
          </a:xfrm>
          <a:prstGeom prst="rect">
            <a:avLst/>
          </a:prstGeom>
          <a:noFill/>
          <a:ln w="0">
            <a:noFill/>
            <a:prstDash val="solid"/>
          </a:ln>
        </p:spPr>
        <p:txBody>
          <a:bodyPr>
            <a:noAutofit/>
          </a:bodyPr>
          <a:lstStyle/>
          <a:p>
            <a:pPr algn="l">
              <a:defRPr sz="2550" b="1">
                <a:solidFill>
                  <a:srgbClr val="006633"/>
                </a:solidFill>
                <a:latin typeface="Calibri"/>
                <a:ea typeface="Calibri"/>
                <a:cs typeface="Calibri"/>
              </a:defRPr>
            </a:pPr>
            <a:r>
              <a:rPr sz="2550" b="1">
                <a:solidFill>
                  <a:srgbClr val="006633"/>
                </a:solidFill>
                <a:latin typeface="Calibri"/>
                <a:ea typeface="Calibri"/>
                <a:cs typeface="Calibri"/>
              </a:rPr>
              <a:t>SEP 28  Symposium, peer evaluation &amp; case impact</a:t>
            </a:r>
          </a:p>
          <a:p>
            <a:pPr algn="l">
              <a:defRPr sz="2550" b="1">
                <a:solidFill>
                  <a:srgbClr val="006633"/>
                </a:solidFill>
                <a:latin typeface="Calibri"/>
                <a:ea typeface="Calibri"/>
                <a:cs typeface="Calibri"/>
              </a:defRPr>
            </a:pPr>
            <a:r>
              <a:rPr sz="2550" b="1">
                <a:solidFill>
                  <a:srgbClr val="006633"/>
                </a:solidFill>
                <a:latin typeface="Calibri"/>
                <a:ea typeface="Calibri"/>
                <a:cs typeface="Calibri"/>
              </a:rPr>
              <a:t>SEP 30  Final update</a:t>
            </a:r>
          </a:p>
        </p:txBody>
      </p:sp>
      <p:sp>
        <p:nvSpPr>
          <p:cNvPr id="40" name="footer-rule"/>
          <p:cNvSpPr>
            <a:spLocks noGrp="1"/>
          </p:cNvSpPr>
          <p:nvPr/>
        </p:nvSpPr>
        <p:spPr>
          <a:xfrm>
            <a:off x="1333500" y="27527250"/>
            <a:ext cx="40137000" cy="47625"/>
          </a:xfrm>
          <a:prstGeom prst="rect">
            <a:avLst/>
          </a:prstGeom>
          <a:solidFill>
            <a:srgbClr val="006633"/>
          </a:solidFill>
          <a:ln w="0">
            <a:noFill/>
            <a:prstDash val="solid"/>
          </a:ln>
        </p:spPr>
        <p:txBody>
          <a:bodyPr/>
          <a:lstStyle/>
          <a:p>
            <a:endParaRPr/>
          </a:p>
        </p:txBody>
      </p:sp>
      <p:sp>
        <p:nvSpPr>
          <p:cNvPr id="41" name="ack-heading"/>
          <p:cNvSpPr>
            <a:spLocks noGrp="1"/>
          </p:cNvSpPr>
          <p:nvPr/>
        </p:nvSpPr>
        <p:spPr>
          <a:xfrm>
            <a:off x="1333500" y="27813000"/>
            <a:ext cx="11049000" cy="666750"/>
          </a:xfrm>
          <a:prstGeom prst="rect">
            <a:avLst/>
          </a:prstGeom>
          <a:noFill/>
          <a:ln w="0">
            <a:noFill/>
            <a:prstDash val="solid"/>
          </a:ln>
        </p:spPr>
        <p:txBody>
          <a:bodyPr>
            <a:noAutofit/>
          </a:bodyPr>
          <a:lstStyle/>
          <a:p>
            <a:pPr algn="l">
              <a:defRPr sz="3375" b="1">
                <a:solidFill>
                  <a:srgbClr val="003399"/>
                </a:solidFill>
                <a:latin typeface="Calibri"/>
                <a:ea typeface="Calibri"/>
                <a:cs typeface="Calibri"/>
              </a:defRPr>
            </a:pPr>
            <a:r>
              <a:rPr sz="3375" b="1">
                <a:solidFill>
                  <a:srgbClr val="003399"/>
                </a:solidFill>
                <a:latin typeface="Calibri"/>
                <a:ea typeface="Calibri"/>
                <a:cs typeface="Calibri"/>
              </a:rPr>
              <a:t>Acknowledgments</a:t>
            </a:r>
          </a:p>
        </p:txBody>
      </p:sp>
      <p:sp>
        <p:nvSpPr>
          <p:cNvPr id="42" name="ack"/>
          <p:cNvSpPr>
            <a:spLocks noGrp="1"/>
          </p:cNvSpPr>
          <p:nvPr/>
        </p:nvSpPr>
        <p:spPr>
          <a:xfrm>
            <a:off x="1333500" y="28479750"/>
            <a:ext cx="11049000" cy="1285875"/>
          </a:xfrm>
          <a:prstGeom prst="rect">
            <a:avLst/>
          </a:prstGeom>
          <a:noFill/>
          <a:ln w="0">
            <a:noFill/>
            <a:prstDash val="solid"/>
          </a:ln>
        </p:spPr>
        <p:txBody>
          <a:bodyPr wrap="square">
            <a:noAutofit/>
          </a:bodyPr>
          <a:lstStyle/>
          <a:p>
            <a:pPr algn="l">
              <a:defRPr sz="2400" b="0">
                <a:solidFill>
                  <a:srgbClr val="212A33"/>
                </a:solidFill>
                <a:latin typeface="Calibri"/>
                <a:ea typeface="Calibri"/>
                <a:cs typeface="Calibri"/>
              </a:defRPr>
            </a:pPr>
            <a:r>
              <a:rPr sz="1800" b="0">
                <a:solidFill>
                  <a:srgbClr val="212A33"/>
                </a:solidFill>
                <a:latin typeface="Calibri"/>
                <a:ea typeface="Calibri"/>
                <a:cs typeface="Calibri"/>
              </a:rPr>
              <a:t>Course instructor: Professor Luyao Zhang. We thank Prof. Ken Rogerson and Han Zhang (Liberata); our peer reviewers Aaron Wang and Zhenning Wang; and our discussant.</a:t>
            </a:r>
          </a:p>
          <a:p>
            <a:pPr algn="l">
              <a:defRPr sz="2400" b="0">
                <a:solidFill>
                  <a:srgbClr val="212A33"/>
                </a:solidFill>
                <a:latin typeface="Calibri"/>
                <a:ea typeface="Calibri"/>
                <a:cs typeface="Calibri"/>
              </a:defRPr>
            </a:pPr>
            <a:r>
              <a:rPr sz="1800" b="0">
                <a:solidFill>
                  <a:srgbClr val="212A33"/>
                </a:solidFill>
                <a:latin typeface="Calibri"/>
                <a:ea typeface="Calibri"/>
                <a:cs typeface="Calibri"/>
              </a:rPr>
              <a:t>Software: Python, NumPy, pandas, Matplotlib, Gradio; ACM acmart and the course A0 template, as provided. Data synthetic. AI use disclosed in Appendix A.1.</a:t>
            </a:r>
          </a:p>
        </p:txBody>
      </p:sp>
      <p:sp>
        <p:nvSpPr>
          <p:cNvPr id="43" name="references-heading"/>
          <p:cNvSpPr>
            <a:spLocks noGrp="1"/>
          </p:cNvSpPr>
          <p:nvPr/>
        </p:nvSpPr>
        <p:spPr>
          <a:xfrm>
            <a:off x="13335000" y="27813000"/>
            <a:ext cx="14192250" cy="666750"/>
          </a:xfrm>
          <a:prstGeom prst="rect">
            <a:avLst/>
          </a:prstGeom>
          <a:noFill/>
          <a:ln w="0">
            <a:noFill/>
            <a:prstDash val="solid"/>
          </a:ln>
        </p:spPr>
        <p:txBody>
          <a:bodyPr>
            <a:noAutofit/>
          </a:bodyPr>
          <a:lstStyle/>
          <a:p>
            <a:pPr algn="l">
              <a:defRPr sz="3375" b="1">
                <a:solidFill>
                  <a:srgbClr val="003399"/>
                </a:solidFill>
                <a:latin typeface="Calibri"/>
                <a:ea typeface="Calibri"/>
                <a:cs typeface="Calibri"/>
              </a:defRPr>
            </a:pPr>
            <a:r>
              <a:rPr sz="3375" b="1">
                <a:solidFill>
                  <a:srgbClr val="003399"/>
                </a:solidFill>
                <a:latin typeface="Calibri"/>
                <a:ea typeface="Calibri"/>
                <a:cs typeface="Calibri"/>
              </a:rPr>
              <a:t>Selected references</a:t>
            </a:r>
          </a:p>
        </p:txBody>
      </p:sp>
      <p:sp>
        <p:nvSpPr>
          <p:cNvPr id="44" name="references"/>
          <p:cNvSpPr>
            <a:spLocks noGrp="1"/>
          </p:cNvSpPr>
          <p:nvPr/>
        </p:nvSpPr>
        <p:spPr>
          <a:xfrm>
            <a:off x="13335000" y="28479750"/>
            <a:ext cx="14192250" cy="1285875"/>
          </a:xfrm>
          <a:prstGeom prst="rect">
            <a:avLst/>
          </a:prstGeom>
          <a:noFill/>
          <a:ln w="0">
            <a:noFill/>
            <a:prstDash val="solid"/>
          </a:ln>
        </p:spPr>
        <p:txBody>
          <a:bodyPr wrap="square">
            <a:noAutofit/>
          </a:bodyPr>
          <a:lstStyle/>
          <a:p>
            <a:pPr algn="l">
              <a:defRPr sz="2400" b="0">
                <a:solidFill>
                  <a:srgbClr val="212A33"/>
                </a:solidFill>
                <a:latin typeface="Calibri"/>
                <a:ea typeface="Calibri"/>
                <a:cs typeface="Calibri"/>
              </a:defRPr>
            </a:pPr>
            <a:r>
              <a:rPr sz="1450" b="0" dirty="0">
                <a:solidFill>
                  <a:srgbClr val="212A33"/>
                </a:solidFill>
                <a:latin typeface="Calibri"/>
                <a:ea typeface="Calibri"/>
                <a:cs typeface="Calibri"/>
              </a:rPr>
              <a:t>Cao, Jiang, Yang &amp; Zhang 2023, RFS 36(9) 3603. doi:10.1093/</a:t>
            </a:r>
            <a:r>
              <a:rPr sz="1450" b="0" dirty="0" err="1">
                <a:solidFill>
                  <a:srgbClr val="212A33"/>
                </a:solidFill>
                <a:latin typeface="Calibri"/>
                <a:ea typeface="Calibri"/>
                <a:cs typeface="Calibri"/>
              </a:rPr>
              <a:t>rfs</a:t>
            </a:r>
            <a:r>
              <a:rPr sz="1450" b="0" dirty="0">
                <a:solidFill>
                  <a:srgbClr val="212A33"/>
                </a:solidFill>
                <a:latin typeface="Calibri"/>
                <a:ea typeface="Calibri"/>
                <a:cs typeface="Calibri"/>
              </a:rPr>
              <a:t>/hh</a:t>
            </a:r>
            <a:r>
              <a:rPr lang="en-US" sz="1450" b="0" dirty="0">
                <a:solidFill>
                  <a:srgbClr val="212A33"/>
                </a:solidFill>
                <a:latin typeface="Calibri"/>
                <a:ea typeface="Calibri"/>
                <a:cs typeface="Calibri"/>
              </a:rPr>
              <a:t>ad</a:t>
            </a:r>
            <a:r>
              <a:rPr sz="1450" b="0" dirty="0">
                <a:solidFill>
                  <a:srgbClr val="212A33"/>
                </a:solidFill>
                <a:latin typeface="Calibri"/>
                <a:ea typeface="Calibri"/>
                <a:cs typeface="Calibri"/>
              </a:rPr>
              <a:t>021</a:t>
            </a:r>
          </a:p>
          <a:p>
            <a:pPr algn="l">
              <a:defRPr sz="2400" b="0">
                <a:solidFill>
                  <a:srgbClr val="212A33"/>
                </a:solidFill>
                <a:latin typeface="Calibri"/>
                <a:ea typeface="Calibri"/>
                <a:cs typeface="Calibri"/>
              </a:defRPr>
            </a:pPr>
            <a:r>
              <a:rPr sz="1450" b="0" dirty="0">
                <a:solidFill>
                  <a:srgbClr val="212A33"/>
                </a:solidFill>
                <a:latin typeface="Calibri"/>
                <a:ea typeface="Calibri"/>
                <a:cs typeface="Calibri"/>
              </a:rPr>
              <a:t>Lacker &amp; Weinberg 1989, JPE 97(6) 1345. doi:10.1086/261657</a:t>
            </a:r>
          </a:p>
          <a:p>
            <a:pPr algn="l">
              <a:defRPr sz="2400" b="0">
                <a:solidFill>
                  <a:srgbClr val="212A33"/>
                </a:solidFill>
                <a:latin typeface="Calibri"/>
                <a:ea typeface="Calibri"/>
                <a:cs typeface="Calibri"/>
              </a:defRPr>
            </a:pPr>
            <a:r>
              <a:rPr sz="1450" b="0" dirty="0">
                <a:solidFill>
                  <a:srgbClr val="212A33"/>
                </a:solidFill>
                <a:latin typeface="Calibri"/>
                <a:ea typeface="Calibri"/>
                <a:cs typeface="Calibri"/>
              </a:rPr>
              <a:t>Sherman 2005, JFE 78(3) 615. doi:10.1016/j.jfineco.2004.09.005</a:t>
            </a:r>
          </a:p>
          <a:p>
            <a:pPr algn="l">
              <a:defRPr sz="2400" b="0">
                <a:solidFill>
                  <a:srgbClr val="212A33"/>
                </a:solidFill>
                <a:latin typeface="Calibri"/>
                <a:ea typeface="Calibri"/>
                <a:cs typeface="Calibri"/>
              </a:defRPr>
            </a:pPr>
            <a:r>
              <a:rPr sz="1450" b="0" dirty="0">
                <a:solidFill>
                  <a:srgbClr val="212A33"/>
                </a:solidFill>
                <a:latin typeface="Calibri"/>
                <a:ea typeface="Calibri"/>
                <a:cs typeface="Calibri"/>
              </a:rPr>
              <a:t>Staiger &amp; Stock 1997, </a:t>
            </a:r>
            <a:r>
              <a:rPr sz="1450" b="0" dirty="0" err="1">
                <a:solidFill>
                  <a:srgbClr val="212A33"/>
                </a:solidFill>
                <a:latin typeface="Calibri"/>
                <a:ea typeface="Calibri"/>
                <a:cs typeface="Calibri"/>
              </a:rPr>
              <a:t>Econometrica</a:t>
            </a:r>
            <a:r>
              <a:rPr sz="1450" b="0" dirty="0">
                <a:solidFill>
                  <a:srgbClr val="212A33"/>
                </a:solidFill>
                <a:latin typeface="Calibri"/>
                <a:ea typeface="Calibri"/>
                <a:cs typeface="Calibri"/>
              </a:rPr>
              <a:t> 65(3) 557. doi:10.2307/2171753</a:t>
            </a:r>
          </a:p>
        </p:txBody>
      </p:sp>
      <p:sp>
        <p:nvSpPr>
          <p:cNvPr id="45" name="access-heading"/>
          <p:cNvSpPr>
            <a:spLocks noGrp="1"/>
          </p:cNvSpPr>
          <p:nvPr/>
        </p:nvSpPr>
        <p:spPr>
          <a:xfrm>
            <a:off x="30421500" y="27813000"/>
            <a:ext cx="11049000" cy="476250"/>
          </a:xfrm>
          <a:prstGeom prst="rect">
            <a:avLst/>
          </a:prstGeom>
          <a:noFill/>
          <a:ln w="0">
            <a:noFill/>
            <a:prstDash val="solid"/>
          </a:ln>
        </p:spPr>
        <p:txBody>
          <a:bodyPr>
            <a:noAutofit/>
          </a:bodyPr>
          <a:lstStyle/>
          <a:p>
            <a:pPr algn="l">
              <a:defRPr sz="2400" b="1">
                <a:solidFill>
                  <a:srgbClr val="003399"/>
                </a:solidFill>
                <a:latin typeface="Calibri"/>
                <a:ea typeface="Calibri"/>
                <a:cs typeface="Calibri"/>
              </a:defRPr>
            </a:pPr>
            <a:r>
              <a:rPr sz="2400" b="1">
                <a:solidFill>
                  <a:srgbClr val="003399"/>
                </a:solidFill>
                <a:latin typeface="Calibri"/>
                <a:ea typeface="Calibri"/>
                <a:cs typeface="Calibri"/>
              </a:rPr>
              <a:t>OPEN MATERIALS</a:t>
            </a:r>
          </a:p>
        </p:txBody>
      </p:sp>
      <p:sp>
        <p:nvSpPr>
          <p:cNvPr id="46" name="access-links"/>
          <p:cNvSpPr>
            <a:spLocks noGrp="1"/>
          </p:cNvSpPr>
          <p:nvPr/>
        </p:nvSpPr>
        <p:spPr>
          <a:xfrm>
            <a:off x="30421580" y="28384500"/>
            <a:ext cx="9752965" cy="1000125"/>
          </a:xfrm>
          <a:prstGeom prst="rect">
            <a:avLst/>
          </a:prstGeom>
          <a:noFill/>
          <a:ln w="0">
            <a:noFill/>
            <a:prstDash val="solid"/>
          </a:ln>
        </p:spPr>
        <p:txBody>
          <a:bodyPr wrap="square">
            <a:noAutofit/>
          </a:bodyPr>
          <a:lstStyle/>
          <a:p>
            <a:pPr algn="l">
              <a:defRPr sz="2325" b="0">
                <a:solidFill>
                  <a:srgbClr val="212A33"/>
                </a:solidFill>
                <a:latin typeface="Calibri"/>
                <a:ea typeface="Calibri"/>
                <a:cs typeface="Calibri"/>
              </a:defRPr>
            </a:pPr>
            <a:r>
              <a:rPr sz="2225" b="0">
                <a:solidFill>
                  <a:srgbClr val="212A33"/>
                </a:solidFill>
                <a:latin typeface="Calibri"/>
                <a:ea typeface="Calibri"/>
                <a:cs typeface="Calibri"/>
              </a:rPr>
              <a:t>HF: https://huggingface.co/spaces/dku-comsci-econ206-2026/strategic-disclosure-game</a:t>
            </a:r>
          </a:p>
          <a:p>
            <a:pPr algn="l">
              <a:defRPr sz="2325" b="0">
                <a:solidFill>
                  <a:srgbClr val="212A33"/>
                </a:solidFill>
                <a:latin typeface="Calibri"/>
                <a:ea typeface="Calibri"/>
                <a:cs typeface="Calibri"/>
              </a:defRPr>
            </a:pPr>
            <a:r>
              <a:rPr sz="2225" b="0">
                <a:solidFill>
                  <a:srgbClr val="212A33"/>
                </a:solidFill>
                <a:latin typeface="Calibri"/>
                <a:ea typeface="Calibri"/>
                <a:cs typeface="Calibri"/>
              </a:rPr>
              <a:t>GitHub: https://github.com/dku-comsci-econ206-Autumn2026/ps2-fp3</a:t>
            </a:r>
          </a:p>
        </p:txBody>
      </p:sp>
      <p:sp>
        <p:nvSpPr>
          <p:cNvPr id="51" name="format-note"/>
          <p:cNvSpPr>
            <a:spLocks noGrp="1"/>
          </p:cNvSpPr>
          <p:nvPr/>
        </p:nvSpPr>
        <p:spPr>
          <a:xfrm>
            <a:off x="1333500" y="29813250"/>
            <a:ext cx="40137000" cy="400050"/>
          </a:xfrm>
          <a:prstGeom prst="rect">
            <a:avLst/>
          </a:prstGeom>
          <a:noFill/>
          <a:ln w="0">
            <a:noFill/>
            <a:prstDash val="solid"/>
          </a:ln>
        </p:spPr>
        <p:txBody>
          <a:bodyPr>
            <a:noAutofit/>
          </a:bodyPr>
          <a:lstStyle/>
          <a:p>
            <a:endParaRPr/>
          </a:p>
        </p:txBody>
      </p:sp>
      <p:pic>
        <p:nvPicPr>
          <p:cNvPr id="59" name="Picture 58" descr="fig1_memory_bias.png"/>
          <p:cNvPicPr>
            <a:picLocks noChangeAspect="1"/>
          </p:cNvPicPr>
          <p:nvPr/>
        </p:nvPicPr>
        <p:blipFill>
          <a:blip r:embed="rId4"/>
          <a:stretch>
            <a:fillRect/>
          </a:stretch>
        </p:blipFill>
        <p:spPr>
          <a:xfrm>
            <a:off x="15639829" y="11288250"/>
            <a:ext cx="11524342" cy="4379250"/>
          </a:xfrm>
          <a:prstGeom prst="rect">
            <a:avLst/>
          </a:prstGeom>
        </p:spPr>
      </p:pic>
      <p:pic>
        <p:nvPicPr>
          <p:cNvPr id="60" name="Picture 59" descr="fig_poster_main.png"/>
          <p:cNvPicPr>
            <a:picLocks noChangeAspect="1"/>
          </p:cNvPicPr>
          <p:nvPr/>
        </p:nvPicPr>
        <p:blipFill>
          <a:blip r:embed="rId5"/>
          <a:stretch>
            <a:fillRect/>
          </a:stretch>
        </p:blipFill>
        <p:spPr>
          <a:xfrm>
            <a:off x="13676659" y="17765250"/>
            <a:ext cx="15450681" cy="5998500"/>
          </a:xfrm>
          <a:prstGeom prst="rect">
            <a:avLst/>
          </a:prstGeom>
        </p:spPr>
      </p:pic>
    </p:spTree>
  </p:cSld>
  <p:clrMapOvr>
    <a:masterClrMapping/>
  </p:clrMapOvr>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20</TotalTime>
  <Words>1270</Words>
  <Application>Microsoft Macintosh PowerPoint</Application>
  <PresentationFormat>Custom</PresentationFormat>
  <Paragraphs>64</Paragraphs>
  <Slides>1</Slides>
  <Notes>1</Notes>
  <HiddenSlides>0</HiddenSlides>
  <MMClips>0</MMClips>
  <ScaleCrop>false</ScaleCrop>
  <HeadingPairs>
    <vt:vector size="6" baseType="variant">
      <vt:variant>
        <vt:lpstr>Fonts Used</vt:lpstr>
      </vt:variant>
      <vt:variant>
        <vt:i4>1</vt:i4>
      </vt:variant>
      <vt:variant>
        <vt:lpstr>Theme</vt:lpstr>
      </vt:variant>
      <vt:variant>
        <vt:i4>1</vt:i4>
      </vt:variant>
      <vt:variant>
        <vt:lpstr>Slide Titles</vt:lpstr>
      </vt:variant>
      <vt:variant>
        <vt:i4>1</vt:i4>
      </vt:variant>
    </vt:vector>
  </HeadingPairs>
  <TitlesOfParts>
    <vt:vector size="3" baseType="lpstr">
      <vt:lpstr>Calibri</vt:lpstr>
      <vt:lpstr>ChatGPT</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菲羽 李</cp:lastModifiedBy>
  <cp:revision>4</cp:revision>
  <dcterms:created xsi:type="dcterms:W3CDTF">2026-09-27T09:16:49Z</dcterms:created>
  <dcterms:modified xsi:type="dcterms:W3CDTF">2026-09-30T02:12:56Z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E14167851F3B883107DCB86A3A089571_42</vt:lpwstr>
  </property>
  <property fmtid="{D5CDD505-2E9C-101B-9397-08002B2CF9AE}" pid="3" name="KSOProductBuildVer">
    <vt:lpwstr>2052-6.0.2.8225</vt:lpwstr>
  </property>
</Properties>
</file>